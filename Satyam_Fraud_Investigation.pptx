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Gap (₹ Cr)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FY2002</c:v>
                  </c:pt>
                  <c:pt idx="1">
                    <c:v>FY2003</c:v>
                  </c:pt>
                  <c:pt idx="2">
                    <c:v>FY2005</c:v>
                  </c:pt>
                  <c:pt idx="3">
                    <c:v>FY2006</c:v>
                  </c:pt>
                  <c:pt idx="4">
                    <c:v>FY2007</c:v>
                  </c:pt>
                  <c:pt idx="5">
                    <c:v>FY2008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90</c:v>
                </c:pt>
                <c:pt idx="2">
                  <c:v>346</c:v>
                </c:pt>
                <c:pt idx="3">
                  <c:v>796</c:v>
                </c:pt>
                <c:pt idx="4">
                  <c:v>1097</c:v>
                </c:pt>
                <c:pt idx="5">
                  <c:v>5040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0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Satyam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FY2005</c:v>
                  </c:pt>
                  <c:pt idx="1">
                    <c:v>FY2006</c:v>
                  </c:pt>
                  <c:pt idx="2">
                    <c:v>FY2007</c:v>
                  </c:pt>
                  <c:pt idx="3">
                    <c:v>FY2008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20.65</c:v>
                </c:pt>
                <c:pt idx="1">
                  <c:v>22.41</c:v>
                </c:pt>
                <c:pt idx="2">
                  <c:v>11.53</c:v>
                </c:pt>
                <c:pt idx="3">
                  <c:v>74.27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Infosys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FY2005</c:v>
                  </c:pt>
                  <c:pt idx="1">
                    <c:v>FY2006</c:v>
                  </c:pt>
                  <c:pt idx="2">
                    <c:v>FY2007</c:v>
                  </c:pt>
                  <c:pt idx="3">
                    <c:v>FY2008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30.5</c:v>
                </c:pt>
                <c:pt idx="1">
                  <c:v>29.8</c:v>
                </c:pt>
                <c:pt idx="2">
                  <c:v>31.2</c:v>
                </c:pt>
                <c:pt idx="3">
                  <c:v>29.5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0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Arial"/>
                  </a:rPr>
                  <a:t>Cash / Total Assets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0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(Fraudulent)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Cash &amp; Bank
(₹ Cr)</c:v>
                  </c:pt>
                  <c:pt idx="1">
                    <c:v>Sundry Debtors
(₹ Cr)</c:v>
                  </c:pt>
                  <c:pt idx="2">
                    <c:v>Net Worth
(₹ Cr)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5361</c:v>
                </c:pt>
                <c:pt idx="1">
                  <c:v>2223.41</c:v>
                </c:pt>
                <c:pt idx="2">
                  <c:v>7221.71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Restated (Actual)</c:v>
                </c:pt>
              </c:strCache>
            </c:strRef>
          </c:tx>
          <c:spPr>
            <a:solidFill>
              <a:srgbClr val="9AA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Cash &amp; Bank
(₹ Cr)</c:v>
                  </c:pt>
                  <c:pt idx="1">
                    <c:v>Sundry Debtors
(₹ Cr)</c:v>
                  </c:pt>
                  <c:pt idx="2">
                    <c:v>Net Worth
(₹ Cr)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321</c:v>
                </c:pt>
                <c:pt idx="1">
                  <c:v>1733.41</c:v>
                </c:pt>
                <c:pt idx="2">
                  <c:v>21.71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B20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0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FINANCIAL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SATYAM FRAUD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India's largest corporate fraud — ₹7,136 Crore — from public filings, the Raju confession letter, and CID findings.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3175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74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Alshad Ansari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Forensic Analysis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fraud, in six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₹7,136 Cr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FRAUD QUANTUM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1772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₹5,040 Cr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CASH ON BOOKS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6676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6676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EMPLOYEES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06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8.44 / 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8680" y="5120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SCORE (MODEL)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8862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17720" y="4206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 Years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5120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8862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6760" y="4206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US$200 (India)
US$33M (Total)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66760" y="5120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PwC's ORIGINAL FINE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₹20 Cr gap became ₹5,040 Cr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gap between reported and actual cash balance, FY2002–FY2008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37944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7099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03911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accounting manipulation begins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2889504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27614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92440" y="30906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employee siphoning starts — ₹20 Cr/month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63840" y="3941064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8130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92440" y="41422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Barred by World Bank; pressure mounts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4992624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3"/>
          <p:cNvSpPr/>
          <p:nvPr/>
        </p:nvSpPr>
        <p:spPr>
          <a:xfrm>
            <a:off x="8092440" y="48646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92440" y="519379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Maytas deal collapses — confession imminent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Excel workbook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566160"/>
          </a:xfrm>
          <a:prstGeom prst="rect">
            <a:avLst/>
          </a:prstGeom>
          <a:solidFill>
            <a:srgbClr val="141C4A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Satyam's reported P&amp;L and balance sheet (FY05–08), Raju's confession-letter figures, and Infosys as a clean benchmark.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606040" cy="3566160"/>
          </a:xfrm>
          <a:prstGeom prst="rect">
            <a:avLst/>
          </a:prstGeom>
          <a:solidFill>
            <a:srgbClr val="141C4A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194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30752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30752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cash/assets, receivables/revenue, interest yield, and revenue-per-employee — Satyam vs. Infosys.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64224" y="1920240"/>
            <a:ext cx="2606040" cy="3566160"/>
          </a:xfrm>
          <a:prstGeom prst="rect">
            <a:avLst/>
          </a:prstGeom>
          <a:solidFill>
            <a:srgbClr val="141C4A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2194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92824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Scoring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2824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weighted 10-indicator model, scored 0–10, each tied to the audit control that failed.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26296" y="1920240"/>
            <a:ext cx="2606040" cy="3566160"/>
          </a:xfrm>
          <a:prstGeom prst="rect">
            <a:avLst/>
          </a:prstGeom>
          <a:solidFill>
            <a:srgbClr val="141C4A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4896" y="21945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454896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54896" y="3429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vs. restated financials, an escalation timeline, and an executive summary.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that should have ended it: 74.3%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as a share of total assets — no operating IT firm holds three-quarters of its balance sheet in cash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83080"/>
            <a:ext cx="3063240" cy="42062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RATIO MATTERS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32520" y="246888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held a steady 29–31% across all four years — normal for a cash-generative IT services business.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Satyam's ratio nearly tripled in one year, right as the fraud was unravelling — a statistical outlier that a basic peer-benchmarking check would have caught.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10-indicator model, weighted and scored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406640" cy="4480560"/>
        </p:xfrm>
        <a:graphic>
          <a:graphicData uri="http://schemas.openxmlformats.org/drawingml/2006/table">
            <a:tbl>
              <a:tblPr/>
              <a:tblGrid>
                <a:gridCol w="4114800"/>
                <a:gridCol w="1097280"/>
                <a:gridCol w="1097280"/>
                <a:gridCol w="109728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Red Flag Indicator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Satyam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Infosys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7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Cash balance inconsistency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9.5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1.0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Revenue vs. receivables mismatch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Interest income anomaly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9.0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Headcount vs. revenue mismatch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Promoter share pledge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9.0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1.0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Related-party transactions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Auditor fee vs. complexity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7.0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Board independence quality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030"/>
                          </a:solidFill>
                        </a:rPr>
                        <a:t>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</a:rPr>
                        <a:t>8.0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2.5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08760"/>
            <a:ext cx="3246120" cy="4480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8288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21488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8.44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549640" y="29718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 — SATYAM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49640" y="3520440"/>
            <a:ext cx="2560320" cy="0"/>
          </a:xfrm>
          <a:prstGeom prst="line">
            <a:avLst/>
          </a:prstGeom>
          <a:noFill/>
          <a:ln w="12700">
            <a:solidFill>
              <a:srgbClr val="334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9640" y="37033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549640" y="42519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 — INFOSYS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49640" y="484632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5x gap — the model would have flagged Satyam years before the confession.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vs. restated: FY2008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858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840480" cy="434340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COLLAPSED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01000" y="2496312"/>
            <a:ext cx="82296" cy="82296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2350008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fell from ₹7,221.71 Cr reported to ₹21.71 Cr actual — the company was effectively insolvent.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3666744"/>
            <a:ext cx="82296" cy="82296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3520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FY2009 operating margin: 24% reported vs. 3% actual.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4837176"/>
            <a:ext cx="82296" cy="82296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9087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₹1,230 Cr in liabilities were kept off the books entirely — hidden borrowings arranged by Raju.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the numbers made undeniable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50876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82296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fraud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₹5,040 Cr (94%) of reported FY2008 cash was non-existent.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50876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691640"/>
            <a:ext cx="82296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56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inflation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FY2009 revenue overstated by ₹588 Cr in a single quarter.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5349240" cy="150876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456432"/>
            <a:ext cx="82296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210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employees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~13,000 fictitious names on payroll, siphoning ₹20 Cr/month.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456432"/>
            <a:ext cx="5349240" cy="150876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3456432"/>
            <a:ext cx="82296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6210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9136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 anomaly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29768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interest implied a 4.8% yield — below prevailing FD rates.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21224"/>
            <a:ext cx="5349240" cy="150876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221224"/>
            <a:ext cx="82296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858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67842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failure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60624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never independently confirmed cash balances with the banks.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5221224"/>
            <a:ext cx="5349240" cy="1508760"/>
          </a:xfrm>
          <a:prstGeom prst="rect">
            <a:avLst/>
          </a:prstGeom>
          <a:solidFill>
            <a:srgbClr val="141C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5221224"/>
            <a:ext cx="82296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3858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567842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breakdown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37960" y="60624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directors resigned only after the fraud became public.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the next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6420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independent bank confirmation for any cash balance above ₹100 Cr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 auditor rotation every 5 years, joint audit above ₹1,000 Cr revenue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9077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SEBI reporting for promoter share pledges above 10% of holding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2958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protection legislation with financial incentives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78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5137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physical HR headcount audits above 10,000 employees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92440" y="1691640"/>
            <a:ext cx="3474720" cy="4480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 Alshad Ansari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Applications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Ranchi University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3611880"/>
            <a:ext cx="2788920" cy="0"/>
          </a:xfrm>
          <a:prstGeom prst="line">
            <a:avLst/>
          </a:prstGeom>
          <a:noFill/>
          <a:ln w="12700">
            <a:solidFill>
              <a:srgbClr val="3B45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demonstrate: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1605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ratio analysis &amp; anomaly detection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risk-scoring frameworks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Control-failure mapping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Executive-ready reporting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2026-07-18T04:00:53Z</dcterms:created>
  <dcterms:modified xsi:type="dcterms:W3CDTF">2026-07-18T04:00:53Z</dcterms:modified>
</cp:coreProperties>
</file>